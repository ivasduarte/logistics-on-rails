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modernComment_127_0.xml" ContentType="application/vnd.ms-powerpoint.comments+xml"/>
  <Override PartName="/ppt/comments/modernComment_199_E8DB507.xml" ContentType="application/vnd.ms-powerpoint.comments+xml"/>
  <Override PartName="/ppt/comments/modernComment_194_F8C0A913.xml" ContentType="application/vnd.ms-powerpoint.comments+xml"/>
  <Override PartName="/ppt/comments/modernComment_19E_28E9E7A1.xml" ContentType="application/vnd.ms-powerpoint.comments+xml"/>
  <Override PartName="/ppt/comments/modernComment_196_73C95D57.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97_300F0B25.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9B_4BDE2BB0.xml" ContentType="application/vnd.ms-powerpoint.comments+xml"/>
  <Override PartName="/ppt/comments/modernComment_19A_18A78E8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0"/>
  </p:notesMasterIdLst>
  <p:sldIdLst>
    <p:sldId id="295" r:id="rId5"/>
    <p:sldId id="409" r:id="rId6"/>
    <p:sldId id="404" r:id="rId7"/>
    <p:sldId id="414" r:id="rId8"/>
    <p:sldId id="406" r:id="rId9"/>
    <p:sldId id="407" r:id="rId10"/>
    <p:sldId id="408" r:id="rId11"/>
    <p:sldId id="411" r:id="rId12"/>
    <p:sldId id="410" r:id="rId13"/>
    <p:sldId id="412" r:id="rId14"/>
    <p:sldId id="415" r:id="rId15"/>
    <p:sldId id="398" r:id="rId16"/>
    <p:sldId id="413" r:id="rId17"/>
    <p:sldId id="405" r:id="rId18"/>
    <p:sldId id="387" r:id="rId19"/>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1A558A-D303-65E2-8988-E9D20194D4E8}" name="Ana Barata" initials="AB" userId="S::abt@isep.ipp.pt::5b353bcc-9c20-4dd6-9ceb-f15a7e5b32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5432"/>
    <a:srgbClr val="404040"/>
    <a:srgbClr val="7F7F7F"/>
    <a:srgbClr val="FF8600"/>
    <a:srgbClr val="FF6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C756E8-1A4A-4A82-B6C0-04ED6CB128C2}" v="84" dt="2024-10-22T15:32:15.8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310" autoAdjust="0"/>
  </p:normalViewPr>
  <p:slideViewPr>
    <p:cSldViewPr>
      <p:cViewPr varScale="1">
        <p:scale>
          <a:sx n="104" d="100"/>
          <a:sy n="104" d="100"/>
        </p:scale>
        <p:origin x="876" y="10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b="1" dirty="0"/>
              <a:t>Contribuição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Contribuição (%)</c:v>
                </c:pt>
              </c:strCache>
            </c:strRef>
          </c:tx>
          <c:spPr>
            <a:solidFill>
              <a:schemeClr val="accent6"/>
            </a:solidFill>
            <a:ln>
              <a:noFill/>
            </a:ln>
            <a:effectLst/>
          </c:spPr>
          <c:invertIfNegative val="0"/>
          <c:cat>
            <c:strRef>
              <c:f>Folha1!$A$2:$A$5</c:f>
              <c:strCache>
                <c:ptCount val="4"/>
                <c:pt idx="0">
                  <c:v>João Ferreira</c:v>
                </c:pt>
                <c:pt idx="1">
                  <c:v>Iva Silva</c:v>
                </c:pt>
                <c:pt idx="2">
                  <c:v>Diogo Silva</c:v>
                </c:pt>
                <c:pt idx="3">
                  <c:v>Gonçalo Tavares</c:v>
                </c:pt>
              </c:strCache>
            </c:strRef>
          </c:cat>
          <c:val>
            <c:numRef>
              <c:f>Folha1!$B$2:$B$5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0-0486-4A64-B307-80E9A3590427}"/>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2368"/>
        <c:crosses val="autoZero"/>
        <c:auto val="1"/>
        <c:lblAlgn val="ctr"/>
        <c:lblOffset val="100"/>
        <c:noMultiLvlLbl val="0"/>
      </c:catAx>
      <c:valAx>
        <c:axId val="691902368"/>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a:t>User Stories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Folha1!$B$1</c:f>
              <c:strCache>
                <c:ptCount val="1"/>
                <c:pt idx="0">
                  <c:v>Componente</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Folha1!$A$2:$A$4</c:f>
              <c:strCache>
                <c:ptCount val="3"/>
                <c:pt idx="0">
                  <c:v>ESINF</c:v>
                </c:pt>
                <c:pt idx="1">
                  <c:v>BDDAD</c:v>
                </c:pt>
                <c:pt idx="2">
                  <c:v>LAPR3</c:v>
                </c:pt>
              </c:strCache>
            </c:strRef>
          </c:cat>
          <c:val>
            <c:numRef>
              <c:f>Folha1!$B$2:$B$4</c:f>
              <c:numCache>
                <c:formatCode>General</c:formatCode>
                <c:ptCount val="3"/>
                <c:pt idx="0">
                  <c:v>3.33</c:v>
                </c:pt>
                <c:pt idx="1">
                  <c:v>4.67</c:v>
                </c:pt>
                <c:pt idx="2">
                  <c:v>2</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32479451847365232"/>
          <c:y val="0.92143353108468107"/>
          <c:w val="0.35041081162931559"/>
          <c:h val="5.5489547585588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9A_18A78E8B.xml><?xml version="1.0" encoding="utf-8"?>
<p188:cmLst xmlns:a="http://schemas.openxmlformats.org/drawingml/2006/main" xmlns:r="http://schemas.openxmlformats.org/officeDocument/2006/relationships" xmlns:p188="http://schemas.microsoft.com/office/powerpoint/2018/8/main">
  <p188:cm id="{C8F11B5E-A96B-481B-8CB0-A7B8AF14F672}" authorId="{6C1A558A-D303-65E2-8988-E9D20194D4E8}" created="2024-10-22T15:32:15.800">
    <pc:sldMkLst xmlns:pc="http://schemas.microsoft.com/office/powerpoint/2013/main/command">
      <pc:docMk/>
      <pc:sldMk cId="413634187" sldId="410"/>
    </pc:sldMkLst>
    <p188:txBody>
      <a:bodyPr/>
      <a:lstStyle/>
      <a:p>
        <a:r>
          <a:rPr lang="en-GB"/>
          <a:t>To analyse the information registered on the board, from issues to daily meetings, and each team member's performance, and compare it with your own perspective.</a:t>
        </a:r>
      </a:p>
    </p188:txBody>
  </p188:cm>
</p188:cmLst>
</file>

<file path=ppt/comments/modernComment_19B_4BDE2BB0.xml><?xml version="1.0" encoding="utf-8"?>
<p188:cmLst xmlns:a="http://schemas.openxmlformats.org/drawingml/2006/main" xmlns:r="http://schemas.openxmlformats.org/officeDocument/2006/relationships" xmlns:p188="http://schemas.microsoft.com/office/powerpoint/2018/8/main">
  <p188:cm id="{A070780B-DB84-4A97-8599-8F8407629B8F}"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9E_28E9E7A1.xml><?xml version="1.0" encoding="utf-8"?>
<p188:cmLst xmlns:a="http://schemas.openxmlformats.org/drawingml/2006/main" xmlns:r="http://schemas.openxmlformats.org/officeDocument/2006/relationships" xmlns:p188="http://schemas.microsoft.com/office/powerpoint/2018/8/main">
  <p188:cm id="{4146D92A-ACAE-4B3A-B838-25F759B27F7B}"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5A05288D-53D7-4485-9EC0-C6B72816DB2A}" authorId="{6C1A558A-D303-65E2-8988-E9D20194D4E8}" created="2024-10-22T15:29:55.765">
    <pc:sldMkLst xmlns:pc="http://schemas.microsoft.com/office/powerpoint/2013/main/command">
      <pc:docMk/>
      <pc:sldMk cId="0" sldId="295"/>
    </pc:sldMkLst>
    <p188:txBody>
      <a:bodyPr/>
      <a:lstStyle/>
      <a:p>
        <a:r>
          <a:rPr lang="en-US"/>
          <a:t>Team and SPrint identification</a:t>
        </a:r>
      </a:p>
    </p188:txBody>
  </p188:cm>
</p188:cmLst>
</file>

<file path=ppt/comments/modernComment_194_F8C0A913.xml><?xml version="1.0" encoding="utf-8"?>
<p188:cmLst xmlns:a="http://schemas.openxmlformats.org/drawingml/2006/main" xmlns:r="http://schemas.openxmlformats.org/officeDocument/2006/relationships" xmlns:p188="http://schemas.microsoft.com/office/powerpoint/2018/8/main">
  <p188:cm id="{0B49A45F-1BB2-4EE9-9AC3-E3FE75BDA40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6_73C95D57.xml><?xml version="1.0" encoding="utf-8"?>
<p188:cmLst xmlns:a="http://schemas.openxmlformats.org/drawingml/2006/main" xmlns:r="http://schemas.openxmlformats.org/officeDocument/2006/relationships" xmlns:p188="http://schemas.microsoft.com/office/powerpoint/2018/8/main">
  <p188:cm id="{33B10A50-E342-46B1-8A21-69A1F6A00AA6}" authorId="{6C1A558A-D303-65E2-8988-E9D20194D4E8}" created="2024-10-22T15:28:37.653">
    <pc:sldMkLst xmlns:pc="http://schemas.microsoft.com/office/powerpoint/2013/main/command">
      <pc:docMk/>
      <pc:sldMk cId="1942576471" sldId="406"/>
    </pc:sldMkLst>
    <p188:txBody>
      <a:bodyPr/>
      <a:lstStyle/>
      <a:p>
        <a:r>
          <a:rPr lang="en-GB"/>
          <a:t>Este gráfico é apenas um exemplo. 
Devem retirar a informação a partir do menu "insights" no vosso repositório.
Formatem um tipo de gráfico que permita expor o número de tarefas atribuídas e executadas por cada elemento da equipa. Podem incluir todos os elementos, mesmo os que não estão em LAPR3.</a:t>
        </a:r>
      </a:p>
    </p188:txBody>
  </p188:cm>
</p188:cmLst>
</file>

<file path=ppt/comments/modernComment_197_300F0B25.xml><?xml version="1.0" encoding="utf-8"?>
<p188:cmLst xmlns:a="http://schemas.openxmlformats.org/drawingml/2006/main" xmlns:r="http://schemas.openxmlformats.org/officeDocument/2006/relationships" xmlns:p188="http://schemas.microsoft.com/office/powerpoint/2018/8/main">
  <p188:cm id="{98DB55F9-AD37-4F54-B79F-128CDD8B7F4B}" authorId="{6C1A558A-D303-65E2-8988-E9D20194D4E8}" created="2024-10-22T15:30:53.219">
    <pc:sldMkLst xmlns:pc="http://schemas.microsoft.com/office/powerpoint/2013/main/command">
      <pc:docMk/>
      <pc:sldMk cId="806292261" sldId="407"/>
    </pc:sldMkLst>
    <p188:txBody>
      <a:bodyPr/>
      <a:lstStyle/>
      <a:p>
        <a:r>
          <a:rPr lang="en-US"/>
          <a:t>May be created using the data from the board - workoad in each component from each team member.</a:t>
        </a:r>
      </a:p>
    </p188:txBody>
  </p188:cm>
</p188:cmLst>
</file>

<file path=ppt/comments/modernComment_199_E8DB507.xml><?xml version="1.0" encoding="utf-8"?>
<p188:cmLst xmlns:a="http://schemas.openxmlformats.org/drawingml/2006/main" xmlns:r="http://schemas.openxmlformats.org/officeDocument/2006/relationships" xmlns:p188="http://schemas.microsoft.com/office/powerpoint/2018/8/main">
  <p188:cm id="{43E5A7E4-8301-4D04-B856-08C35D122170}" authorId="{6C1A558A-D303-65E2-8988-E9D20194D4E8}" created="2024-10-22T15:29:25.154">
    <pc:sldMkLst xmlns:pc="http://schemas.microsoft.com/office/powerpoint/2013/main/command">
      <pc:docMk/>
      <pc:sldMk cId="244167943" sldId="409"/>
    </pc:sldMkLst>
    <p188:txBody>
      <a:bodyPr/>
      <a:lstStyle/>
      <a:p>
        <a:r>
          <a:rPr lang="en-US"/>
          <a:t>According to the information in the board/repository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10/26/2025</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‹nº›</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dirty="0"/>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dirty="0"/>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26/10/2025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dirty="0"/>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dirty="0">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27_0.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microsoft.com/office/2018/10/relationships/comments" Target="../comments/modernComment_199_E8DB50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94_F8C0A91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9E_28E9E7A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96_73C95D57.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197_300F0B2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9B_4BDE2BB0.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microsoft.com/office/2018/10/relationships/comments" Target="../comments/modernComment_19A_18A78E8B.xml"/><Relationship Id="rId1" Type="http://schemas.openxmlformats.org/officeDocument/2006/relationships/slideLayout" Target="../slideLayouts/slideLayout4.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Word_Document2.docx"/><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99002" y="2326395"/>
            <a:ext cx="8505945" cy="571503"/>
          </a:xfrm>
        </p:spPr>
        <p:txBody>
          <a:bodyPr/>
          <a:lstStyle/>
          <a:p>
            <a:pPr algn="ctr"/>
            <a:r>
              <a:rPr lang="en-US" sz="3200" kern="1200" dirty="0">
                <a:solidFill>
                  <a:schemeClr val="tx1"/>
                </a:solidFill>
                <a:latin typeface="+mn-lt"/>
                <a:ea typeface="+mn-ea"/>
                <a:cs typeface="+mn-cs"/>
              </a:rPr>
              <a:t>[Logistics On Rails] - </a:t>
            </a:r>
            <a:r>
              <a:rPr lang="en-US" sz="3200" b="1" kern="1200" dirty="0">
                <a:solidFill>
                  <a:schemeClr val="tx1"/>
                </a:solidFill>
              </a:rPr>
              <a:t>SPRINT 1</a:t>
            </a:r>
            <a:br>
              <a:rPr lang="en-US" sz="3200" kern="1200" dirty="0">
                <a:solidFill>
                  <a:schemeClr val="tx1"/>
                </a:solidFill>
                <a:latin typeface="+mn-lt"/>
                <a:ea typeface="+mn-ea"/>
                <a:cs typeface="+mn-cs"/>
              </a:rPr>
            </a:br>
            <a:br>
              <a:rPr lang="en-US" sz="3200" kern="1200" dirty="0">
                <a:solidFill>
                  <a:schemeClr val="tx1"/>
                </a:solidFill>
                <a:latin typeface="+mn-lt"/>
                <a:ea typeface="+mn-ea"/>
                <a:cs typeface="+mn-cs"/>
              </a:rPr>
            </a:br>
            <a:r>
              <a:rPr lang="en-US" sz="3200" kern="1200" dirty="0">
                <a:solidFill>
                  <a:schemeClr val="tx1"/>
                </a:solidFill>
                <a:latin typeface="+mn-lt"/>
                <a:ea typeface="+mn-ea"/>
                <a:cs typeface="+mn-cs"/>
              </a:rPr>
              <a:t>G091</a:t>
            </a:r>
            <a:endParaRPr lang="en-US" sz="3200" b="1" dirty="0">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857221" y="1536660"/>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en-US" sz="3200" kern="0" dirty="0">
                <a:solidFill>
                  <a:schemeClr val="tx1"/>
                </a:solidFill>
                <a:latin typeface="+mn-lt"/>
                <a:ea typeface="+mn-ea"/>
                <a:cs typeface="+mn-cs"/>
              </a:rPr>
              <a:t>LAPR3 2025/2026</a:t>
            </a:r>
            <a:endParaRPr lang="en-US" sz="3200" kern="0" dirty="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extLst>
              <p:ext uri="{D42A27DB-BD31-4B8C-83A1-F6EECF244321}">
                <p14:modId xmlns:p14="http://schemas.microsoft.com/office/powerpoint/2010/main" val="3388827436"/>
              </p:ext>
            </p:extLst>
          </p:nvPr>
        </p:nvGraphicFramePr>
        <p:xfrm>
          <a:off x="1231704" y="3960103"/>
          <a:ext cx="7433372" cy="1980220"/>
        </p:xfrm>
        <a:graphic>
          <a:graphicData uri="http://schemas.openxmlformats.org/drawingml/2006/table">
            <a:tbl>
              <a:tblPr firstRow="1" firstCol="1" lastCol="1" bandRow="1">
                <a:tableStyleId>{93296810-A885-4BE3-A3E7-6D5BEEA58F35}</a:tableStyleId>
              </a:tblPr>
              <a:tblGrid>
                <a:gridCol w="1858343">
                  <a:extLst>
                    <a:ext uri="{9D8B030D-6E8A-4147-A177-3AD203B41FA5}">
                      <a16:colId xmlns:a16="http://schemas.microsoft.com/office/drawing/2014/main" val="1786404924"/>
                    </a:ext>
                  </a:extLst>
                </a:gridCol>
                <a:gridCol w="1858343">
                  <a:extLst>
                    <a:ext uri="{9D8B030D-6E8A-4147-A177-3AD203B41FA5}">
                      <a16:colId xmlns:a16="http://schemas.microsoft.com/office/drawing/2014/main" val="3388003712"/>
                    </a:ext>
                  </a:extLst>
                </a:gridCol>
                <a:gridCol w="1858343">
                  <a:extLst>
                    <a:ext uri="{9D8B030D-6E8A-4147-A177-3AD203B41FA5}">
                      <a16:colId xmlns:a16="http://schemas.microsoft.com/office/drawing/2014/main" val="3217887647"/>
                    </a:ext>
                  </a:extLst>
                </a:gridCol>
                <a:gridCol w="1858343">
                  <a:extLst>
                    <a:ext uri="{9D8B030D-6E8A-4147-A177-3AD203B41FA5}">
                      <a16:colId xmlns:a16="http://schemas.microsoft.com/office/drawing/2014/main" val="2465101990"/>
                    </a:ext>
                  </a:extLst>
                </a:gridCol>
              </a:tblGrid>
              <a:tr h="652897">
                <a:tc>
                  <a:txBody>
                    <a:bodyPr/>
                    <a:lstStyle/>
                    <a:p>
                      <a:pPr algn="ctr"/>
                      <a:r>
                        <a:rPr lang="pt-PT" dirty="0"/>
                        <a:t>João Ferreira</a:t>
                      </a:r>
                    </a:p>
                    <a:p>
                      <a:pPr algn="ctr"/>
                      <a:r>
                        <a:rPr lang="pt-PT" dirty="0"/>
                        <a:t>(</a:t>
                      </a:r>
                      <a:r>
                        <a:rPr lang="pt-PT" sz="1400" b="0" i="0" u="none" strike="noStrike" cap="none" dirty="0">
                          <a:solidFill>
                            <a:schemeClr val="lt1"/>
                          </a:solidFill>
                          <a:effectLst/>
                          <a:latin typeface="+mn-lt"/>
                          <a:ea typeface="+mn-ea"/>
                          <a:cs typeface="+mn-cs"/>
                          <a:sym typeface="Arial"/>
                        </a:rPr>
                        <a:t>1241166</a:t>
                      </a:r>
                      <a:r>
                        <a:rPr lang="pt-PT" dirty="0"/>
                        <a:t>)</a:t>
                      </a:r>
                    </a:p>
                  </a:txBody>
                  <a:tcPr/>
                </a:tc>
                <a:tc>
                  <a:txBody>
                    <a:bodyPr/>
                    <a:lstStyle/>
                    <a:p>
                      <a:pPr algn="ctr"/>
                      <a:r>
                        <a:rPr lang="pt-PT" dirty="0"/>
                        <a:t>Iva Silva</a:t>
                      </a:r>
                    </a:p>
                    <a:p>
                      <a:pPr algn="ctr"/>
                      <a:r>
                        <a:rPr lang="pt-PT" dirty="0"/>
                        <a:t>(1241176)</a:t>
                      </a:r>
                    </a:p>
                  </a:txBody>
                  <a:tcPr/>
                </a:tc>
                <a:tc>
                  <a:txBody>
                    <a:bodyPr/>
                    <a:lstStyle/>
                    <a:p>
                      <a:pPr algn="ctr"/>
                      <a:r>
                        <a:rPr lang="pt-PT" dirty="0"/>
                        <a:t>Diogo Silva</a:t>
                      </a:r>
                    </a:p>
                    <a:p>
                      <a:pPr algn="ctr"/>
                      <a:r>
                        <a:rPr lang="pt-PT" dirty="0"/>
                        <a:t>(</a:t>
                      </a:r>
                      <a:r>
                        <a:rPr lang="pt-PT" sz="1400" b="0" i="0" u="none" strike="noStrike" cap="none" dirty="0">
                          <a:solidFill>
                            <a:schemeClr val="lt1"/>
                          </a:solidFill>
                          <a:effectLst/>
                          <a:latin typeface="+mn-lt"/>
                          <a:ea typeface="+mn-ea"/>
                          <a:cs typeface="+mn-cs"/>
                          <a:sym typeface="Arial"/>
                        </a:rPr>
                        <a:t>1241229</a:t>
                      </a:r>
                      <a:r>
                        <a:rPr lang="pt-PT" dirty="0"/>
                        <a:t>)</a:t>
                      </a:r>
                    </a:p>
                  </a:txBody>
                  <a:tcPr/>
                </a:tc>
                <a:tc>
                  <a:txBody>
                    <a:bodyPr/>
                    <a:lstStyle/>
                    <a:p>
                      <a:pPr algn="ctr"/>
                      <a:r>
                        <a:rPr lang="pt-PT" dirty="0"/>
                        <a:t>Gonçalo Tavares</a:t>
                      </a:r>
                    </a:p>
                    <a:p>
                      <a:pPr algn="ctr"/>
                      <a:r>
                        <a:rPr lang="pt-PT" dirty="0"/>
                        <a:t>(</a:t>
                      </a:r>
                      <a:r>
                        <a:rPr lang="pt-PT" sz="1400" b="0" i="0" u="none" strike="noStrike" cap="none" dirty="0">
                          <a:solidFill>
                            <a:schemeClr val="lt1"/>
                          </a:solidFill>
                          <a:effectLst/>
                          <a:latin typeface="+mn-lt"/>
                          <a:ea typeface="+mn-ea"/>
                          <a:cs typeface="+mn-cs"/>
                          <a:sym typeface="Arial"/>
                        </a:rPr>
                        <a:t>1241234</a:t>
                      </a:r>
                      <a:r>
                        <a:rPr lang="pt-PT" dirty="0"/>
                        <a:t>)</a:t>
                      </a:r>
                    </a:p>
                  </a:txBody>
                  <a:tcPr/>
                </a:tc>
                <a:extLst>
                  <a:ext uri="{0D108BD9-81ED-4DB2-BD59-A6C34878D82A}">
                    <a16:rowId xmlns:a16="http://schemas.microsoft.com/office/drawing/2014/main" val="2471333584"/>
                  </a:ext>
                </a:extLst>
              </a:tr>
              <a:tr h="1327323">
                <a:tc>
                  <a:txBody>
                    <a:bodyPr/>
                    <a:lstStyle/>
                    <a:p>
                      <a:pPr algn="ctr"/>
                      <a:endParaRPr lang="pt-PT" dirty="0"/>
                    </a:p>
                    <a:p>
                      <a:pPr algn="ctr"/>
                      <a:endParaRPr lang="pt-PT" dirty="0"/>
                    </a:p>
                    <a:p>
                      <a:pPr algn="ctr"/>
                      <a:endParaRPr lang="pt-PT" dirty="0"/>
                    </a:p>
                  </a:txBody>
                  <a:tcPr>
                    <a:solidFill>
                      <a:schemeClr val="bg1">
                        <a:lumMod val="95000"/>
                      </a:schemeClr>
                    </a:solidFill>
                  </a:tcPr>
                </a:tc>
                <a:tc>
                  <a:txBody>
                    <a:bodyPr/>
                    <a:lstStyle/>
                    <a:p>
                      <a:endParaRPr lang="pt-PT" dirty="0"/>
                    </a:p>
                    <a:p>
                      <a:endParaRPr lang="pt-PT" dirty="0"/>
                    </a:p>
                    <a:p>
                      <a:pPr algn="ctr"/>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extLst>
                  <a:ext uri="{0D108BD9-81ED-4DB2-BD59-A6C34878D82A}">
                    <a16:rowId xmlns:a16="http://schemas.microsoft.com/office/drawing/2014/main" val="4095273831"/>
                  </a:ext>
                </a:extLst>
              </a:tr>
            </a:tbl>
          </a:graphicData>
        </a:graphic>
      </p:graphicFrame>
      <p:pic>
        <p:nvPicPr>
          <p:cNvPr id="6" name="Imagem 5" descr="Uma imagem com Cara humana, pessoa, sobrancelha, Testa&#10;&#10;Os conteúdos gerados por IA podem estar incorretos.">
            <a:extLst>
              <a:ext uri="{FF2B5EF4-FFF2-40B4-BE49-F238E27FC236}">
                <a16:creationId xmlns:a16="http://schemas.microsoft.com/office/drawing/2014/main" id="{08C69564-7A6E-E349-5760-8D8E7DB3B03B}"/>
              </a:ext>
            </a:extLst>
          </p:cNvPr>
          <p:cNvPicPr>
            <a:picLocks noChangeAspect="1"/>
          </p:cNvPicPr>
          <p:nvPr/>
        </p:nvPicPr>
        <p:blipFill>
          <a:blip r:embed="rId3"/>
          <a:stretch>
            <a:fillRect/>
          </a:stretch>
        </p:blipFill>
        <p:spPr>
          <a:xfrm>
            <a:off x="1296026" y="4568333"/>
            <a:ext cx="1728000" cy="1379669"/>
          </a:xfrm>
          <a:prstGeom prst="rect">
            <a:avLst/>
          </a:prstGeom>
        </p:spPr>
      </p:pic>
      <p:pic>
        <p:nvPicPr>
          <p:cNvPr id="1026" name="Picture 2" descr="View 1241176-IvaSilva's full-sized avatar">
            <a:extLst>
              <a:ext uri="{FF2B5EF4-FFF2-40B4-BE49-F238E27FC236}">
                <a16:creationId xmlns:a16="http://schemas.microsoft.com/office/drawing/2014/main" id="{A8CB1CAF-0AB4-71DE-6449-40C6CDFD12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7999" y="4600790"/>
            <a:ext cx="1725805" cy="1320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CD2C8D2-23F3-CD37-B7E4-A5EAD9030F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6222" y="4588084"/>
            <a:ext cx="1728000" cy="13301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iew 1241234-goncalotavares's full-sized avatar">
            <a:extLst>
              <a:ext uri="{FF2B5EF4-FFF2-40B4-BE49-F238E27FC236}">
                <a16:creationId xmlns:a16="http://schemas.microsoft.com/office/drawing/2014/main" id="{B319D934-D7FC-B585-4314-AAD8FD9826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6000" y="4588084"/>
            <a:ext cx="1728000" cy="13301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planning – Sprint 1</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2505790731"/>
              </p:ext>
            </p:extLst>
          </p:nvPr>
        </p:nvGraphicFramePr>
        <p:xfrm>
          <a:off x="947555" y="3023955"/>
          <a:ext cx="7830870" cy="2743197"/>
        </p:xfrm>
        <a:graphic>
          <a:graphicData uri="http://schemas.openxmlformats.org/drawingml/2006/table">
            <a:tbl>
              <a:tblPr firstRow="1" bandRow="1">
                <a:tableStyleId>{912C8C85-51F0-491E-9774-3900AFEF0FD7}</a:tableStyleId>
              </a:tblPr>
              <a:tblGrid>
                <a:gridCol w="4112855">
                  <a:extLst>
                    <a:ext uri="{9D8B030D-6E8A-4147-A177-3AD203B41FA5}">
                      <a16:colId xmlns:a16="http://schemas.microsoft.com/office/drawing/2014/main" val="3798560086"/>
                    </a:ext>
                  </a:extLst>
                </a:gridCol>
                <a:gridCol w="3718015">
                  <a:extLst>
                    <a:ext uri="{9D8B030D-6E8A-4147-A177-3AD203B41FA5}">
                      <a16:colId xmlns:a16="http://schemas.microsoft.com/office/drawing/2014/main" val="477562216"/>
                    </a:ext>
                  </a:extLst>
                </a:gridCol>
              </a:tblGrid>
              <a:tr h="370840">
                <a:tc>
                  <a:txBody>
                    <a:bodyPr/>
                    <a:lstStyle/>
                    <a:p>
                      <a:r>
                        <a:rPr lang="pt-PT" dirty="0"/>
                        <a:t>SPRINT BACKLOG</a:t>
                      </a:r>
                    </a:p>
                  </a:txBody>
                  <a:tcPr/>
                </a:tc>
                <a:tc>
                  <a:txBody>
                    <a:bodyPr/>
                    <a:lstStyle/>
                    <a:p>
                      <a:endParaRPr lang="pt-PT" dirty="0"/>
                    </a:p>
                  </a:txBody>
                  <a:tcPr/>
                </a:tc>
                <a:extLst>
                  <a:ext uri="{0D108BD9-81ED-4DB2-BD59-A6C34878D82A}">
                    <a16:rowId xmlns:a16="http://schemas.microsoft.com/office/drawing/2014/main" val="3623111211"/>
                  </a:ext>
                </a:extLst>
              </a:tr>
              <a:tr h="370840">
                <a:tc>
                  <a:txBody>
                    <a:bodyPr/>
                    <a:lstStyle/>
                    <a:p>
                      <a:r>
                        <a:rPr lang="en-US" noProof="0" dirty="0"/>
                        <a:t>Number of stories</a:t>
                      </a:r>
                    </a:p>
                  </a:txBody>
                  <a:tcPr/>
                </a:tc>
                <a:tc>
                  <a:txBody>
                    <a:bodyPr/>
                    <a:lstStyle/>
                    <a:p>
                      <a:r>
                        <a:rPr lang="en-US" noProof="0" dirty="0"/>
                        <a:t>16</a:t>
                      </a:r>
                    </a:p>
                  </a:txBody>
                  <a:tcPr/>
                </a:tc>
                <a:extLst>
                  <a:ext uri="{0D108BD9-81ED-4DB2-BD59-A6C34878D82A}">
                    <a16:rowId xmlns:a16="http://schemas.microsoft.com/office/drawing/2014/main" val="883314903"/>
                  </a:ext>
                </a:extLst>
              </a:tr>
              <a:tr h="370840">
                <a:tc>
                  <a:txBody>
                    <a:bodyPr/>
                    <a:lstStyle/>
                    <a:p>
                      <a:r>
                        <a:rPr lang="en-US" noProof="0" dirty="0"/>
                        <a:t>Number of bugs</a:t>
                      </a:r>
                    </a:p>
                  </a:txBody>
                  <a:tcPr/>
                </a:tc>
                <a:tc>
                  <a:txBody>
                    <a:bodyPr/>
                    <a:lstStyle/>
                    <a:p>
                      <a:r>
                        <a:rPr lang="en-US" noProof="0" dirty="0"/>
                        <a:t>2</a:t>
                      </a:r>
                    </a:p>
                  </a:txBody>
                  <a:tcPr/>
                </a:tc>
                <a:extLst>
                  <a:ext uri="{0D108BD9-81ED-4DB2-BD59-A6C34878D82A}">
                    <a16:rowId xmlns:a16="http://schemas.microsoft.com/office/drawing/2014/main" val="428254498"/>
                  </a:ext>
                </a:extLst>
              </a:tr>
              <a:tr h="370839">
                <a:tc>
                  <a:txBody>
                    <a:bodyPr/>
                    <a:lstStyle/>
                    <a:p>
                      <a:pPr lvl="0">
                        <a:buNone/>
                      </a:pPr>
                      <a:r>
                        <a:rPr lang="en-US" noProof="0" dirty="0"/>
                        <a:t>Number of tasks</a:t>
                      </a:r>
                    </a:p>
                  </a:txBody>
                  <a:tcPr/>
                </a:tc>
                <a:tc>
                  <a:txBody>
                    <a:bodyPr/>
                    <a:lstStyle/>
                    <a:p>
                      <a:pPr lvl="0">
                        <a:buNone/>
                      </a:pPr>
                      <a:r>
                        <a:rPr lang="en-US" noProof="0" dirty="0"/>
                        <a:t>53</a:t>
                      </a:r>
                    </a:p>
                  </a:txBody>
                  <a:tcPr/>
                </a:tc>
                <a:extLst>
                  <a:ext uri="{0D108BD9-81ED-4DB2-BD59-A6C34878D82A}">
                    <a16:rowId xmlns:a16="http://schemas.microsoft.com/office/drawing/2014/main" val="4185709446"/>
                  </a:ext>
                </a:extLst>
              </a:tr>
              <a:tr h="370839">
                <a:tc>
                  <a:txBody>
                    <a:bodyPr/>
                    <a:lstStyle/>
                    <a:p>
                      <a:pPr lvl="0">
                        <a:buNone/>
                      </a:pPr>
                      <a:r>
                        <a:rPr lang="en-US" noProof="0" dirty="0"/>
                        <a:t>Number of Management Tasks (Scrum)</a:t>
                      </a:r>
                    </a:p>
                  </a:txBody>
                  <a:tcPr/>
                </a:tc>
                <a:tc>
                  <a:txBody>
                    <a:bodyPr/>
                    <a:lstStyle/>
                    <a:p>
                      <a:pPr lvl="0">
                        <a:buNone/>
                      </a:pPr>
                      <a:r>
                        <a:rPr lang="en-US" noProof="0" dirty="0"/>
                        <a:t>4</a:t>
                      </a:r>
                    </a:p>
                  </a:txBody>
                  <a:tcPr/>
                </a:tc>
                <a:extLst>
                  <a:ext uri="{0D108BD9-81ED-4DB2-BD59-A6C34878D82A}">
                    <a16:rowId xmlns:a16="http://schemas.microsoft.com/office/drawing/2014/main" val="563517871"/>
                  </a:ext>
                </a:extLst>
              </a:tr>
              <a:tr h="370839">
                <a:tc>
                  <a:txBody>
                    <a:bodyPr/>
                    <a:lstStyle/>
                    <a:p>
                      <a:pPr lvl="0">
                        <a:buNone/>
                      </a:pPr>
                      <a:r>
                        <a:rPr lang="en-US" noProof="0" dirty="0"/>
                        <a:t>Number of team members</a:t>
                      </a:r>
                    </a:p>
                  </a:txBody>
                  <a:tcPr/>
                </a:tc>
                <a:tc>
                  <a:txBody>
                    <a:bodyPr/>
                    <a:lstStyle/>
                    <a:p>
                      <a:pPr lvl="0" algn="ctr">
                        <a:buNone/>
                      </a:pPr>
                      <a:r>
                        <a:rPr lang="en-US" noProof="0" dirty="0"/>
                        <a:t>Planned: 4               Actual: 6   </a:t>
                      </a:r>
                    </a:p>
                  </a:txBody>
                  <a:tcPr/>
                </a:tc>
                <a:extLst>
                  <a:ext uri="{0D108BD9-81ED-4DB2-BD59-A6C34878D82A}">
                    <a16:rowId xmlns:a16="http://schemas.microsoft.com/office/drawing/2014/main" val="2843102962"/>
                  </a:ext>
                </a:extLst>
              </a:tr>
              <a:tr h="370838">
                <a:tc>
                  <a:txBody>
                    <a:bodyPr/>
                    <a:lstStyle/>
                    <a:p>
                      <a:pPr lvl="0">
                        <a:buNone/>
                      </a:pPr>
                      <a:r>
                        <a:rPr lang="en-US" noProof="0" dirty="0"/>
                        <a:t>Total planned estimation vs execution</a:t>
                      </a:r>
                    </a:p>
                  </a:txBody>
                  <a:tcPr/>
                </a:tc>
                <a:tc>
                  <a:txBody>
                    <a:bodyPr/>
                    <a:lstStyle/>
                    <a:p>
                      <a:pPr marL="0" lvl="0" indent="0" algn="ctr">
                        <a:buNone/>
                      </a:pPr>
                      <a:r>
                        <a:rPr lang="en-US" noProof="0" dirty="0"/>
                        <a:t>Planned hours: (not mandatory)</a:t>
                      </a:r>
                    </a:p>
                    <a:p>
                      <a:pPr marL="0" lvl="0" indent="0" algn="ctr">
                        <a:buNone/>
                      </a:pPr>
                      <a:r>
                        <a:rPr lang="en-US" noProof="0" dirty="0"/>
                        <a:t>Executed hours: (not mandatory)</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rPr>
              <a:t>Planned Start Date:  29/09/2025                                               Real Start Date:  30/09/2025  </a:t>
            </a:r>
          </a:p>
          <a:p>
            <a:pPr marL="0" indent="0">
              <a:buNone/>
            </a:pPr>
            <a:r>
              <a:rPr lang="en-US" sz="1800" dirty="0">
                <a:solidFill>
                  <a:schemeClr val="tx1"/>
                </a:solidFill>
              </a:rPr>
              <a:t>Planned End Date:    26/10/2025                                               Real End Date:   27/10/2025</a:t>
            </a:r>
          </a:p>
          <a:p>
            <a:pPr marL="0" indent="0">
              <a:buFont typeface="Arial" pitchFamily="34" charset="0"/>
              <a:buNone/>
            </a:pPr>
            <a:endParaRPr lang="en-US" dirty="0">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4000" y="1000108"/>
            <a:ext cx="9219520" cy="571504"/>
          </a:xfrm>
        </p:spPr>
        <p:txBody>
          <a:bodyPr/>
          <a:lstStyle/>
          <a:p>
            <a:r>
              <a:rPr lang="en-US" sz="3200" cap="none" dirty="0">
                <a:solidFill>
                  <a:schemeClr val="tx1"/>
                </a:solidFill>
              </a:rPr>
              <a:t>Sprint 1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1294764147"/>
              </p:ext>
            </p:extLst>
          </p:nvPr>
        </p:nvGraphicFramePr>
        <p:xfrm>
          <a:off x="414000" y="1673805"/>
          <a:ext cx="9008401" cy="459230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sz="1400" b="0" i="0" u="none" strike="noStrike" cap="none" baseline="0" dirty="0">
                          <a:solidFill>
                            <a:schemeClr val="tx1"/>
                          </a:solidFill>
                          <a:latin typeface="+mn-lt"/>
                          <a:ea typeface="+mn-ea"/>
                          <a:cs typeface="+mn-cs"/>
                          <a:sym typeface="Arial"/>
                        </a:rPr>
                        <a:t>USBD01</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sz="1400" b="0" i="0" u="none" strike="noStrike" cap="none" baseline="0" dirty="0">
                          <a:solidFill>
                            <a:schemeClr val="tx1"/>
                          </a:solidFill>
                          <a:latin typeface="+mn-lt"/>
                          <a:ea typeface="+mn-ea"/>
                          <a:cs typeface="+mn-cs"/>
                          <a:sym typeface="Arial"/>
                        </a:rPr>
                        <a:t>USBD02</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sz="1400" b="0" i="0" u="none" strike="noStrike" cap="none" baseline="0" dirty="0">
                          <a:solidFill>
                            <a:schemeClr val="tx1"/>
                          </a:solidFill>
                          <a:latin typeface="+mn-lt"/>
                          <a:ea typeface="+mn-ea"/>
                          <a:cs typeface="+mn-cs"/>
                          <a:sym typeface="Arial"/>
                        </a:rPr>
                        <a:t>USBD03</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sz="1400" b="0" i="0" u="none" strike="noStrike" cap="none" baseline="0" dirty="0">
                          <a:solidFill>
                            <a:schemeClr val="tx1"/>
                          </a:solidFill>
                          <a:latin typeface="+mn-lt"/>
                          <a:ea typeface="+mn-ea"/>
                          <a:cs typeface="+mn-cs"/>
                          <a:sym typeface="Arial"/>
                        </a:rPr>
                        <a:t>USBD04</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b="0" i="0" u="none" strike="noStrike" cap="none" baseline="0" dirty="0">
                          <a:solidFill>
                            <a:schemeClr val="tx1"/>
                          </a:solidFill>
                          <a:latin typeface="+mn-lt"/>
                          <a:ea typeface="+mn-ea"/>
                          <a:cs typeface="+mn-cs"/>
                          <a:sym typeface="Arial"/>
                        </a:rPr>
                        <a:t>USBD05</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USBD10</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USBD15</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USBD16</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USEI01</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USEI02</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371F-1E95-B0E6-661A-40A8519BCB8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F464B64-0B5F-2F83-0B47-86447C85A57F}"/>
              </a:ext>
            </a:extLst>
          </p:cNvPr>
          <p:cNvSpPr>
            <a:spLocks noGrp="1"/>
          </p:cNvSpPr>
          <p:nvPr>
            <p:ph type="title"/>
          </p:nvPr>
        </p:nvSpPr>
        <p:spPr>
          <a:xfrm>
            <a:off x="414000" y="1000108"/>
            <a:ext cx="9219520" cy="571504"/>
          </a:xfrm>
        </p:spPr>
        <p:txBody>
          <a:bodyPr/>
          <a:lstStyle/>
          <a:p>
            <a:r>
              <a:rPr lang="en-US" sz="3200" cap="none" dirty="0">
                <a:solidFill>
                  <a:schemeClr val="tx1"/>
                </a:solidFill>
              </a:rPr>
              <a:t>Sprint 1 planning</a:t>
            </a:r>
          </a:p>
        </p:txBody>
      </p:sp>
      <p:graphicFrame>
        <p:nvGraphicFramePr>
          <p:cNvPr id="2" name="Tabela 2">
            <a:extLst>
              <a:ext uri="{FF2B5EF4-FFF2-40B4-BE49-F238E27FC236}">
                <a16:creationId xmlns:a16="http://schemas.microsoft.com/office/drawing/2014/main" id="{6A5BC900-2C4B-8680-6057-EA658FED85D0}"/>
              </a:ext>
            </a:extLst>
          </p:cNvPr>
          <p:cNvGraphicFramePr>
            <a:graphicFrameLocks noGrp="1"/>
          </p:cNvGraphicFramePr>
          <p:nvPr>
            <p:extLst>
              <p:ext uri="{D42A27DB-BD31-4B8C-83A1-F6EECF244321}">
                <p14:modId xmlns:p14="http://schemas.microsoft.com/office/powerpoint/2010/main" val="900070341"/>
              </p:ext>
            </p:extLst>
          </p:nvPr>
        </p:nvGraphicFramePr>
        <p:xfrm>
          <a:off x="414000" y="1673805"/>
          <a:ext cx="9008401" cy="459230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sz="1400" b="0" i="0" u="none" strike="noStrike" cap="none" baseline="0" dirty="0">
                          <a:solidFill>
                            <a:schemeClr val="tx1"/>
                          </a:solidFill>
                          <a:latin typeface="+mn-lt"/>
                          <a:ea typeface="+mn-ea"/>
                          <a:cs typeface="+mn-cs"/>
                          <a:sym typeface="Arial"/>
                        </a:rPr>
                        <a:t>USEI03</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sz="1400" b="0" i="0" u="none" strike="noStrike" cap="none" baseline="0" dirty="0">
                          <a:solidFill>
                            <a:schemeClr val="tx1"/>
                          </a:solidFill>
                          <a:latin typeface="+mn-lt"/>
                          <a:ea typeface="+mn-ea"/>
                          <a:cs typeface="+mn-cs"/>
                          <a:sym typeface="Arial"/>
                        </a:rPr>
                        <a:t>USEI04</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sz="1400" b="0" i="0" u="none" strike="noStrike" cap="none" baseline="0" dirty="0">
                          <a:solidFill>
                            <a:schemeClr val="tx1"/>
                          </a:solidFill>
                          <a:latin typeface="+mn-lt"/>
                          <a:ea typeface="+mn-ea"/>
                          <a:cs typeface="+mn-cs"/>
                          <a:sym typeface="Arial"/>
                        </a:rPr>
                        <a:t>USEI05</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sz="1400" b="0" i="0" u="none" strike="noStrike" cap="none" baseline="0" dirty="0">
                          <a:solidFill>
                            <a:schemeClr val="tx1"/>
                          </a:solidFill>
                          <a:latin typeface="+mn-lt"/>
                          <a:ea typeface="+mn-ea"/>
                          <a:cs typeface="+mn-cs"/>
                          <a:sym typeface="Arial"/>
                        </a:rPr>
                        <a:t>USLP01</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b="0" i="0" u="none" strike="noStrike" cap="none" baseline="0" dirty="0">
                          <a:solidFill>
                            <a:schemeClr val="tx1"/>
                          </a:solidFill>
                          <a:latin typeface="+mn-lt"/>
                          <a:ea typeface="+mn-ea"/>
                          <a:cs typeface="+mn-cs"/>
                          <a:sym typeface="Arial"/>
                        </a:rPr>
                        <a:t>USLP02</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USLP03</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sz="1400" b="0" i="0" u="none" strike="noStrike" cap="none" baseline="0" dirty="0">
                          <a:solidFill>
                            <a:schemeClr val="tx1"/>
                          </a:solidFill>
                          <a:latin typeface="+mn-lt"/>
                          <a:ea typeface="+mn-ea"/>
                          <a:cs typeface="+mn-cs"/>
                          <a:sym typeface="Arial"/>
                        </a:rPr>
                        <a:t>…</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686417825"/>
      </p:ext>
    </p:extLst>
  </p:cSld>
  <p:clrMapOvr>
    <a:masterClrMapping/>
  </p:clrMapOvr>
  <p:transition spd="med">
    <p:fade/>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team </a:t>
            </a:r>
            <a:r>
              <a:rPr lang="pt-PT" sz="3200" cap="none" dirty="0" err="1">
                <a:solidFill>
                  <a:schemeClr val="tx1"/>
                </a:solidFill>
              </a:rPr>
              <a:t>member</a:t>
            </a:r>
            <a:endParaRPr lang="pt-PT" sz="3200" cap="none" dirty="0">
              <a:solidFill>
                <a:schemeClr val="tx1"/>
              </a:solidFill>
            </a:endParaRP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2167691306"/>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a:solidFill>
                  <a:schemeClr val="tx1"/>
                </a:solidFill>
              </a:rPr>
              <a:t> </a:t>
            </a:r>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a:t>
            </a:r>
            <a:r>
              <a:rPr lang="pt-PT" sz="3200" cap="none" dirty="0" err="1">
                <a:solidFill>
                  <a:schemeClr val="tx1"/>
                </a:solidFill>
              </a:rPr>
              <a:t>type</a:t>
            </a:r>
            <a:r>
              <a:rPr lang="pt-PT" sz="3200" cap="none" dirty="0">
                <a:solidFill>
                  <a:schemeClr val="tx1"/>
                </a:solidFill>
              </a:rPr>
              <a:t> (componente)</a:t>
            </a: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3913645076"/>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6292261"/>
      </p:ext>
    </p:extLst>
  </p:cSld>
  <p:clrMapOvr>
    <a:masterClrMapping/>
  </p:clrMapOvr>
  <p:transition spd="med">
    <p:fade/>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en-US" sz="3200" cap="none" dirty="0">
                <a:solidFill>
                  <a:schemeClr val="tx1"/>
                </a:solidFill>
              </a:rPr>
              <a:t>Issues / Assumptions / unanswered questions</a:t>
            </a:r>
            <a:endParaRPr lang="en-US" sz="3200" cap="none" dirty="0"/>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4004633876"/>
              </p:ext>
            </p:extLst>
          </p:nvPr>
        </p:nvGraphicFramePr>
        <p:xfrm>
          <a:off x="414000" y="1673805"/>
          <a:ext cx="9129510" cy="4399015"/>
        </p:xfrm>
        <a:graphic>
          <a:graphicData uri="http://schemas.openxmlformats.org/drawingml/2006/table">
            <a:tbl>
              <a:tblPr firstRow="1" bandRow="1">
                <a:tableStyleId>{912C8C85-51F0-491E-9774-3900AFEF0FD7}</a:tableStyleId>
              </a:tblPr>
              <a:tblGrid>
                <a:gridCol w="3908930">
                  <a:extLst>
                    <a:ext uri="{9D8B030D-6E8A-4147-A177-3AD203B41FA5}">
                      <a16:colId xmlns:a16="http://schemas.microsoft.com/office/drawing/2014/main" val="3798560086"/>
                    </a:ext>
                  </a:extLst>
                </a:gridCol>
                <a:gridCol w="1800200">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890210">
                  <a:extLst>
                    <a:ext uri="{9D8B030D-6E8A-4147-A177-3AD203B41FA5}">
                      <a16:colId xmlns:a16="http://schemas.microsoft.com/office/drawing/2014/main" val="2634392098"/>
                    </a:ext>
                  </a:extLst>
                </a:gridCol>
              </a:tblGrid>
              <a:tr h="630070">
                <a:tc>
                  <a:txBody>
                    <a:bodyPr/>
                    <a:lstStyle/>
                    <a:p>
                      <a:r>
                        <a:rPr lang="en-US" sz="1200" noProof="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Related issue / </a:t>
                      </a:r>
                    </a:p>
                    <a:p>
                      <a:pPr algn="ctr"/>
                      <a:r>
                        <a:rPr lang="en-US" noProof="0" dirty="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934305">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endParaRPr lang="pt-PT" dirty="0"/>
                    </a:p>
                    <a:p>
                      <a:endParaRPr lang="pt-PT" dirty="0"/>
                    </a:p>
                    <a:p>
                      <a:endParaRPr lang="pt-PT" dirty="0"/>
                    </a:p>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p:txBody>
          <a:bodyPr/>
          <a:lstStyle/>
          <a:p>
            <a:r>
              <a:rPr lang="en-US" sz="3200" cap="none" dirty="0">
                <a:solidFill>
                  <a:schemeClr val="tx1"/>
                </a:solidFill>
              </a:rPr>
              <a:t>Daily Meetings</a:t>
            </a:r>
            <a:endParaRPr lang="en-US" sz="3200" cap="none" dirty="0"/>
          </a:p>
        </p:txBody>
      </p:sp>
      <p:sp>
        <p:nvSpPr>
          <p:cNvPr id="2" name="Título 4">
            <a:extLst>
              <a:ext uri="{FF2B5EF4-FFF2-40B4-BE49-F238E27FC236}">
                <a16:creationId xmlns:a16="http://schemas.microsoft.com/office/drawing/2014/main" id="{6298545B-B353-4200-A812-3BB5E336033D}"/>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2603797491"/>
              </p:ext>
            </p:extLst>
          </p:nvPr>
        </p:nvGraphicFramePr>
        <p:xfrm>
          <a:off x="414000" y="1673805"/>
          <a:ext cx="9060599" cy="4692710"/>
        </p:xfrm>
        <a:graphic>
          <a:graphicData uri="http://schemas.openxmlformats.org/drawingml/2006/table">
            <a:tbl>
              <a:tblPr firstRow="1" bandRow="1">
                <a:tableStyleId>{912C8C85-51F0-491E-9774-3900AFEF0FD7}</a:tableStyleId>
              </a:tblPr>
              <a:tblGrid>
                <a:gridCol w="1939398">
                  <a:extLst>
                    <a:ext uri="{9D8B030D-6E8A-4147-A177-3AD203B41FA5}">
                      <a16:colId xmlns:a16="http://schemas.microsoft.com/office/drawing/2014/main" val="3798560086"/>
                    </a:ext>
                  </a:extLst>
                </a:gridCol>
                <a:gridCol w="1793108">
                  <a:extLst>
                    <a:ext uri="{9D8B030D-6E8A-4147-A177-3AD203B41FA5}">
                      <a16:colId xmlns:a16="http://schemas.microsoft.com/office/drawing/2014/main" val="477562216"/>
                    </a:ext>
                  </a:extLst>
                </a:gridCol>
                <a:gridCol w="1229560">
                  <a:extLst>
                    <a:ext uri="{9D8B030D-6E8A-4147-A177-3AD203B41FA5}">
                      <a16:colId xmlns:a16="http://schemas.microsoft.com/office/drawing/2014/main" val="1777303491"/>
                    </a:ext>
                  </a:extLst>
                </a:gridCol>
                <a:gridCol w="1383255">
                  <a:extLst>
                    <a:ext uri="{9D8B030D-6E8A-4147-A177-3AD203B41FA5}">
                      <a16:colId xmlns:a16="http://schemas.microsoft.com/office/drawing/2014/main" val="4055970072"/>
                    </a:ext>
                  </a:extLst>
                </a:gridCol>
                <a:gridCol w="1332023">
                  <a:extLst>
                    <a:ext uri="{9D8B030D-6E8A-4147-A177-3AD203B41FA5}">
                      <a16:colId xmlns:a16="http://schemas.microsoft.com/office/drawing/2014/main" val="2634392098"/>
                    </a:ext>
                  </a:extLst>
                </a:gridCol>
                <a:gridCol w="1383255">
                  <a:extLst>
                    <a:ext uri="{9D8B030D-6E8A-4147-A177-3AD203B41FA5}">
                      <a16:colId xmlns:a16="http://schemas.microsoft.com/office/drawing/2014/main" val="3954452917"/>
                    </a:ext>
                  </a:extLst>
                </a:gridCol>
              </a:tblGrid>
              <a:tr h="534654">
                <a:tc>
                  <a:txBody>
                    <a:bodyPr/>
                    <a:lstStyle/>
                    <a:p>
                      <a:r>
                        <a:rPr lang="en-US" sz="1200" noProof="0" dirty="0"/>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João</a:t>
                      </a:r>
                    </a:p>
                    <a:p>
                      <a:pPr algn="ctr"/>
                      <a:r>
                        <a:rPr lang="en-US" sz="1400" noProof="0" dirty="0"/>
                        <a:t>Ferreira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Iva</a:t>
                      </a:r>
                    </a:p>
                    <a:p>
                      <a:pPr algn="ctr"/>
                      <a:r>
                        <a:rPr lang="en-US" sz="1400" noProof="0" dirty="0"/>
                        <a:t>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Diogo</a:t>
                      </a:r>
                    </a:p>
                    <a:p>
                      <a:pPr algn="ctr"/>
                      <a:r>
                        <a:rPr lang="en-US" sz="1400" noProof="0" dirty="0"/>
                        <a:t>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Gonçalo</a:t>
                      </a:r>
                    </a:p>
                    <a:p>
                      <a:pPr algn="ctr"/>
                      <a:r>
                        <a:rPr lang="en-US" sz="1400" noProof="0" dirty="0"/>
                        <a:t>Tavares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81896">
                <a:tc>
                  <a:txBody>
                    <a:bodyPr/>
                    <a:lstStyle/>
                    <a:p>
                      <a:pPr algn="ctr"/>
                      <a:r>
                        <a:rPr lang="pt-PT" dirty="0"/>
                        <a:t>1/10/2025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ISEP / 15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14680">
                <a:tc>
                  <a:txBody>
                    <a:bodyPr/>
                    <a:lstStyle/>
                    <a:p>
                      <a:pPr lvl="0" algn="ctr">
                        <a:buNone/>
                      </a:pPr>
                      <a:r>
                        <a:rPr lang="pt-PT" dirty="0"/>
                        <a:t>3/10/2025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7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14680">
                <a:tc>
                  <a:txBody>
                    <a:bodyPr/>
                    <a:lstStyle/>
                    <a:p>
                      <a:pPr lvl="0" algn="ctr">
                        <a:buNone/>
                      </a:pPr>
                      <a:r>
                        <a:rPr lang="pt-PT" dirty="0"/>
                        <a:t>6/10/2025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14680">
                <a:tc>
                  <a:txBody>
                    <a:bodyPr/>
                    <a:lstStyle/>
                    <a:p>
                      <a:pPr lvl="0" algn="ctr">
                        <a:buNone/>
                      </a:pPr>
                      <a:r>
                        <a:rPr lang="pt-PT" dirty="0"/>
                        <a:t>8/10/2025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14680">
                <a:tc>
                  <a:txBody>
                    <a:bodyPr/>
                    <a:lstStyle/>
                    <a:p>
                      <a:pPr lvl="0" algn="ctr">
                        <a:buNone/>
                      </a:pPr>
                      <a:r>
                        <a:rPr lang="pt-PT" dirty="0"/>
                        <a:t>10/10/2025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14680">
                <a:tc>
                  <a:txBody>
                    <a:bodyPr/>
                    <a:lstStyle/>
                    <a:p>
                      <a:pPr lvl="0" algn="ctr">
                        <a:buNone/>
                      </a:pPr>
                      <a:r>
                        <a:rPr lang="pt-PT" dirty="0"/>
                        <a:t>13/10/2025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6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14680">
                <a:tc>
                  <a:txBody>
                    <a:bodyPr/>
                    <a:lstStyle/>
                    <a:p>
                      <a:pPr lvl="0" algn="ctr">
                        <a:buNone/>
                      </a:pPr>
                      <a:r>
                        <a:rPr lang="pt-PT" dirty="0"/>
                        <a:t>15/10/2025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r h="314680">
                <a:tc>
                  <a:txBody>
                    <a:bodyPr/>
                    <a:lstStyle/>
                    <a:p>
                      <a:pPr lvl="0" algn="ctr">
                        <a:buNone/>
                      </a:pPr>
                      <a:r>
                        <a:rPr lang="pt-PT" dirty="0"/>
                        <a:t>17/10/2025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893408"/>
                  </a:ext>
                </a:extLst>
              </a:tr>
              <a:tr h="314680">
                <a:tc>
                  <a:txBody>
                    <a:bodyPr/>
                    <a:lstStyle/>
                    <a:p>
                      <a:pPr lvl="0" algn="ctr">
                        <a:buNone/>
                      </a:pPr>
                      <a:r>
                        <a:rPr lang="pt-PT" dirty="0"/>
                        <a:t>20/10/2025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11371"/>
                  </a:ext>
                </a:extLst>
              </a:tr>
              <a:tr h="314680">
                <a:tc>
                  <a:txBody>
                    <a:bodyPr/>
                    <a:lstStyle/>
                    <a:p>
                      <a:pPr lvl="0" algn="ctr">
                        <a:buNone/>
                      </a:pPr>
                      <a:r>
                        <a:rPr lang="pt-PT" dirty="0"/>
                        <a:t>21/10/2025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07302"/>
                  </a:ext>
                </a:extLst>
              </a:tr>
              <a:tr h="314680">
                <a:tc>
                  <a:txBody>
                    <a:bodyPr/>
                    <a:lstStyle/>
                    <a:p>
                      <a:pPr lvl="0" algn="ctr">
                        <a:buNone/>
                      </a:pPr>
                      <a:r>
                        <a:rPr lang="pt-PT" dirty="0"/>
                        <a:t>22/10/2025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151432"/>
                  </a:ext>
                </a:extLst>
              </a:tr>
              <a:tr h="314680">
                <a:tc>
                  <a:txBody>
                    <a:bodyPr/>
                    <a:lstStyle/>
                    <a:p>
                      <a:pPr lvl="0" algn="ctr">
                        <a:buNone/>
                      </a:pPr>
                      <a:r>
                        <a:rPr lang="pt-PT" dirty="0"/>
                        <a:t>23/10/2025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6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3093167"/>
                  </a:ext>
                </a:extLst>
              </a:tr>
              <a:tr h="314680">
                <a:tc>
                  <a:txBody>
                    <a:bodyPr/>
                    <a:lstStyle/>
                    <a:p>
                      <a:pPr lvl="0" algn="ctr">
                        <a:buNone/>
                      </a:pPr>
                      <a:r>
                        <a:rPr lang="pt-PT" dirty="0"/>
                        <a:t>24/10/2025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ISEP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859661"/>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B12B-83CD-A79C-40AB-A4F8FFB78E6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2D3FC9-4165-9BE5-544E-277A081AC66F}"/>
              </a:ext>
            </a:extLst>
          </p:cNvPr>
          <p:cNvSpPr>
            <a:spLocks noGrp="1"/>
          </p:cNvSpPr>
          <p:nvPr>
            <p:ph type="title"/>
          </p:nvPr>
        </p:nvSpPr>
        <p:spPr/>
        <p:txBody>
          <a:bodyPr/>
          <a:lstStyle/>
          <a:p>
            <a:r>
              <a:rPr lang="en-US" sz="3200" dirty="0">
                <a:solidFill>
                  <a:schemeClr val="tx1"/>
                </a:solidFill>
              </a:rPr>
              <a:t>LLM</a:t>
            </a:r>
            <a:r>
              <a:rPr lang="en-US" sz="3200" cap="none" dirty="0">
                <a:solidFill>
                  <a:schemeClr val="tx1"/>
                </a:solidFill>
              </a:rPr>
              <a:t> performance assessment </a:t>
            </a:r>
            <a:r>
              <a:rPr lang="en-US" sz="2800" cap="none" dirty="0">
                <a:solidFill>
                  <a:schemeClr val="tx1"/>
                </a:solidFill>
              </a:rPr>
              <a:t>(use ChatGPT or Copilot)</a:t>
            </a:r>
            <a:endParaRPr lang="en-US" sz="3200" cap="none" dirty="0"/>
          </a:p>
        </p:txBody>
      </p:sp>
      <p:sp>
        <p:nvSpPr>
          <p:cNvPr id="2" name="Título 4">
            <a:extLst>
              <a:ext uri="{FF2B5EF4-FFF2-40B4-BE49-F238E27FC236}">
                <a16:creationId xmlns:a16="http://schemas.microsoft.com/office/drawing/2014/main" id="{7856DF50-9E5E-4610-FEB2-C4A38022FCFD}"/>
              </a:ext>
            </a:extLst>
          </p:cNvPr>
          <p:cNvSpPr txBox="1">
            <a:spLocks/>
          </p:cNvSpPr>
          <p:nvPr/>
        </p:nvSpPr>
        <p:spPr>
          <a:xfrm>
            <a:off x="431400" y="1571611"/>
            <a:ext cx="9043200" cy="476398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b="0" kern="0" dirty="0">
                <a:solidFill>
                  <a:schemeClr val="tx1"/>
                </a:solidFill>
              </a:rPr>
              <a:t>Source file (attach the file you have used):  </a:t>
            </a:r>
          </a:p>
          <a:p>
            <a:endParaRPr lang="en-US" sz="2000" b="0" kern="0" dirty="0">
              <a:solidFill>
                <a:schemeClr val="tx1"/>
              </a:solidFill>
            </a:endParaRPr>
          </a:p>
          <a:p>
            <a:endParaRPr lang="en-US" sz="2000" b="0" kern="0" dirty="0">
              <a:solidFill>
                <a:schemeClr val="tx1"/>
              </a:solidFill>
            </a:endParaRPr>
          </a:p>
          <a:p>
            <a:r>
              <a:rPr lang="en-US" sz="2000" b="0" kern="0" dirty="0">
                <a:solidFill>
                  <a:schemeClr val="tx1"/>
                </a:solidFill>
              </a:rPr>
              <a:t>Input (write down the prompt you used to ask for the performance assessment):</a:t>
            </a:r>
          </a:p>
          <a:p>
            <a:endParaRPr lang="en-US" sz="2000" b="0" kern="0" dirty="0">
              <a:solidFill>
                <a:schemeClr val="tx1"/>
              </a:solidFill>
            </a:endParaRPr>
          </a:p>
          <a:p>
            <a:pPr algn="just"/>
            <a:r>
              <a:rPr lang="en-US" sz="2000" b="0" kern="0" dirty="0">
                <a:solidFill>
                  <a:schemeClr val="tx1"/>
                </a:solidFill>
              </a:rPr>
              <a:t>We are a group of people working on a project for our university, named Integrative Project, using Scrum as a work methodology . We are now filling the sprint review, with one of the requirements being an LLM assessing our work from 0-5. I'll sent you a word file which contains data of all the daily meetings we had during the sprint, with information about what each member did, what are their thoughts on the team, and other important information. Also, we would like you to give us 1 or 2 short phrases for each member of the group, where you can say what we did right and in which areas we can improve. Keep the answer straight to the point.</a:t>
            </a:r>
          </a:p>
        </p:txBody>
      </p:sp>
      <p:graphicFrame>
        <p:nvGraphicFramePr>
          <p:cNvPr id="9" name="Objeto 8">
            <a:extLst>
              <a:ext uri="{FF2B5EF4-FFF2-40B4-BE49-F238E27FC236}">
                <a16:creationId xmlns:a16="http://schemas.microsoft.com/office/drawing/2014/main" id="{7CA8DDA6-155B-FB4F-D0AE-13FBF355D5F8}"/>
              </a:ext>
            </a:extLst>
          </p:cNvPr>
          <p:cNvGraphicFramePr>
            <a:graphicFrameLocks noChangeAspect="1"/>
          </p:cNvGraphicFramePr>
          <p:nvPr>
            <p:extLst>
              <p:ext uri="{D42A27DB-BD31-4B8C-83A1-F6EECF244321}">
                <p14:modId xmlns:p14="http://schemas.microsoft.com/office/powerpoint/2010/main" val="896461639"/>
              </p:ext>
            </p:extLst>
          </p:nvPr>
        </p:nvGraphicFramePr>
        <p:xfrm>
          <a:off x="4935600" y="1590337"/>
          <a:ext cx="914400" cy="792163"/>
        </p:xfrm>
        <a:graphic>
          <a:graphicData uri="http://schemas.openxmlformats.org/presentationml/2006/ole">
            <mc:AlternateContent xmlns:mc="http://schemas.openxmlformats.org/markup-compatibility/2006">
              <mc:Choice xmlns:v="urn:schemas-microsoft-com:vml" Requires="v">
                <p:oleObj name="Document" showAsIcon="1" r:id="rId3" imgW="914400" imgH="792685" progId="Word.Document.12">
                  <p:embed/>
                </p:oleObj>
              </mc:Choice>
              <mc:Fallback>
                <p:oleObj name="Document" showAsIcon="1" r:id="rId3" imgW="914400" imgH="792685" progId="Word.Document.12">
                  <p:embed/>
                  <p:pic>
                    <p:nvPicPr>
                      <p:cNvPr id="0" name=""/>
                      <p:cNvPicPr/>
                      <p:nvPr/>
                    </p:nvPicPr>
                    <p:blipFill>
                      <a:blip r:embed="rId4"/>
                      <a:stretch>
                        <a:fillRect/>
                      </a:stretch>
                    </p:blipFill>
                    <p:spPr>
                      <a:xfrm>
                        <a:off x="4935600" y="1590337"/>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413634187"/>
      </p:ext>
    </p:extLst>
  </p:cSld>
  <p:clrMapOvr>
    <a:masterClrMapping/>
  </p:clrMapOvr>
  <p:transition spd="med">
    <p:fad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E430-2642-81CC-FC5F-10469D7682E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C477A9-425C-670A-9E07-3A102D29181D}"/>
              </a:ext>
            </a:extLst>
          </p:cNvPr>
          <p:cNvSpPr>
            <a:spLocks noGrp="1"/>
          </p:cNvSpPr>
          <p:nvPr>
            <p:ph type="title"/>
          </p:nvPr>
        </p:nvSpPr>
        <p:spPr/>
        <p:txBody>
          <a:bodyPr/>
          <a:lstStyle/>
          <a:p>
            <a:r>
              <a:rPr lang="en-US" sz="3200" cap="none" dirty="0">
                <a:solidFill>
                  <a:schemeClr val="tx1"/>
                </a:solidFill>
              </a:rPr>
              <a:t>LLM performance assessment - Output</a:t>
            </a:r>
            <a:endParaRPr lang="en-US" sz="3200" cap="none" dirty="0"/>
          </a:p>
        </p:txBody>
      </p:sp>
      <p:sp>
        <p:nvSpPr>
          <p:cNvPr id="2" name="Título 4">
            <a:extLst>
              <a:ext uri="{FF2B5EF4-FFF2-40B4-BE49-F238E27FC236}">
                <a16:creationId xmlns:a16="http://schemas.microsoft.com/office/drawing/2014/main" id="{5B8695FE-2C17-FCC1-CCC4-8717D8F253C2}"/>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sp>
        <p:nvSpPr>
          <p:cNvPr id="3" name="Título 4">
            <a:extLst>
              <a:ext uri="{FF2B5EF4-FFF2-40B4-BE49-F238E27FC236}">
                <a16:creationId xmlns:a16="http://schemas.microsoft.com/office/drawing/2014/main" id="{41914A20-7452-6770-365F-62A72A9E05A5}"/>
              </a:ext>
            </a:extLst>
          </p:cNvPr>
          <p:cNvSpPr txBox="1">
            <a:spLocks/>
          </p:cNvSpPr>
          <p:nvPr/>
        </p:nvSpPr>
        <p:spPr>
          <a:xfrm>
            <a:off x="414000" y="1718810"/>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Output file </a:t>
            </a:r>
            <a:r>
              <a:rPr lang="en-US" sz="2000" b="0" kern="0" dirty="0">
                <a:solidFill>
                  <a:schemeClr val="tx1"/>
                </a:solidFill>
              </a:rPr>
              <a:t>(attach the complete file extracted from the A.I. tool): </a:t>
            </a:r>
          </a:p>
          <a:p>
            <a:endParaRPr lang="en-US" sz="2000" b="0" kern="0" dirty="0">
              <a:solidFill>
                <a:schemeClr val="tx1"/>
              </a:solidFill>
            </a:endParaRPr>
          </a:p>
          <a:p>
            <a:endParaRPr lang="en-US" sz="2000" b="0" kern="0" dirty="0">
              <a:solidFill>
                <a:schemeClr val="tx1"/>
              </a:solidFill>
            </a:endParaRPr>
          </a:p>
          <a:p>
            <a:r>
              <a:rPr lang="en-US" sz="2000" kern="0" dirty="0">
                <a:solidFill>
                  <a:schemeClr val="tx1"/>
                </a:solidFill>
              </a:rPr>
              <a:t>Output</a:t>
            </a:r>
            <a:r>
              <a:rPr lang="en-US" sz="2000" b="0" kern="0" dirty="0">
                <a:solidFill>
                  <a:schemeClr val="tx1"/>
                </a:solidFill>
              </a:rPr>
              <a:t> (write one line per team member):</a:t>
            </a:r>
          </a:p>
          <a:p>
            <a:r>
              <a:rPr lang="en-US" sz="2000" kern="0" dirty="0">
                <a:solidFill>
                  <a:schemeClr val="tx1"/>
                </a:solidFill>
              </a:rPr>
              <a:t>João Ferreira</a:t>
            </a:r>
            <a:r>
              <a:rPr lang="en-US" sz="2000" b="0" kern="0" dirty="0">
                <a:solidFill>
                  <a:schemeClr val="tx1"/>
                </a:solidFill>
              </a:rPr>
              <a:t>: Strong leadership and organization throughout the sprint; could improve in anticipating and mitigating blockers earlier.</a:t>
            </a:r>
          </a:p>
          <a:p>
            <a:r>
              <a:rPr lang="en-US" sz="2000" kern="0" dirty="0">
                <a:solidFill>
                  <a:schemeClr val="tx1"/>
                </a:solidFill>
              </a:rPr>
              <a:t>Diogo Silva</a:t>
            </a:r>
            <a:r>
              <a:rPr lang="en-US" sz="2000" b="0" kern="0" dirty="0">
                <a:solidFill>
                  <a:schemeClr val="tx1"/>
                </a:solidFill>
              </a:rPr>
              <a:t>: Reliable and collaborative contributor on database and testing tasks; could focus on earlier validation to minimize refinements.</a:t>
            </a:r>
          </a:p>
          <a:p>
            <a:r>
              <a:rPr lang="en-US" sz="2000" kern="0" dirty="0">
                <a:solidFill>
                  <a:schemeClr val="tx1"/>
                </a:solidFill>
              </a:rPr>
              <a:t>Iva Silva</a:t>
            </a:r>
            <a:r>
              <a:rPr lang="en-US" sz="2000" b="0" kern="0" dirty="0">
                <a:solidFill>
                  <a:schemeClr val="tx1"/>
                </a:solidFill>
              </a:rPr>
              <a:t>: Consistent and effective in delivering assigned user stories; could take more initiative in suggesting process or design improvements.</a:t>
            </a:r>
          </a:p>
          <a:p>
            <a:r>
              <a:rPr lang="en-US" sz="2000" kern="0" dirty="0">
                <a:solidFill>
                  <a:schemeClr val="tx1"/>
                </a:solidFill>
              </a:rPr>
              <a:t>Gonçalo Tavares</a:t>
            </a:r>
            <a:r>
              <a:rPr lang="en-US" sz="2000" b="0" kern="0" dirty="0">
                <a:solidFill>
                  <a:schemeClr val="tx1"/>
                </a:solidFill>
              </a:rPr>
              <a:t>: Supportive and technically solid teammate; could enhance task planning to better handle interdependencies.</a:t>
            </a:r>
          </a:p>
          <a:p>
            <a:endParaRPr lang="en-US" sz="2000" b="0" kern="0" dirty="0">
              <a:solidFill>
                <a:schemeClr val="tx1"/>
              </a:solidFill>
            </a:endParaRPr>
          </a:p>
          <a:p>
            <a:endParaRPr lang="en-US" sz="2000" b="0" kern="0" dirty="0">
              <a:solidFill>
                <a:schemeClr val="tx1"/>
              </a:solidFill>
            </a:endParaRPr>
          </a:p>
          <a:p>
            <a:endParaRPr lang="en-US" sz="2000" b="0" kern="0" dirty="0">
              <a:solidFill>
                <a:schemeClr val="tx1"/>
              </a:solidFill>
            </a:endParaRPr>
          </a:p>
          <a:p>
            <a:r>
              <a:rPr lang="en-US" sz="2000" kern="0" dirty="0">
                <a:solidFill>
                  <a:schemeClr val="tx1"/>
                </a:solidFill>
              </a:rPr>
              <a:t>Team Members’ Opinion about the A.I. output:</a:t>
            </a:r>
          </a:p>
        </p:txBody>
      </p:sp>
      <p:graphicFrame>
        <p:nvGraphicFramePr>
          <p:cNvPr id="4" name="Objeto 3">
            <a:extLst>
              <a:ext uri="{FF2B5EF4-FFF2-40B4-BE49-F238E27FC236}">
                <a16:creationId xmlns:a16="http://schemas.microsoft.com/office/drawing/2014/main" id="{74F754A2-C80B-DE8A-3D46-46E6F686995D}"/>
              </a:ext>
            </a:extLst>
          </p:cNvPr>
          <p:cNvGraphicFramePr>
            <a:graphicFrameLocks noChangeAspect="1"/>
          </p:cNvGraphicFramePr>
          <p:nvPr>
            <p:extLst>
              <p:ext uri="{D42A27DB-BD31-4B8C-83A1-F6EECF244321}">
                <p14:modId xmlns:p14="http://schemas.microsoft.com/office/powerpoint/2010/main" val="836854371"/>
              </p:ext>
            </p:extLst>
          </p:nvPr>
        </p:nvGraphicFramePr>
        <p:xfrm>
          <a:off x="7788315" y="1700084"/>
          <a:ext cx="914400" cy="792163"/>
        </p:xfrm>
        <a:graphic>
          <a:graphicData uri="http://schemas.openxmlformats.org/presentationml/2006/ole">
            <mc:AlternateContent xmlns:mc="http://schemas.openxmlformats.org/markup-compatibility/2006">
              <mc:Choice xmlns:v="urn:schemas-microsoft-com:vml" Requires="v">
                <p:oleObj name="Document" showAsIcon="1" r:id="rId2" imgW="914400" imgH="792685" progId="Word.Document.12">
                  <p:embed/>
                </p:oleObj>
              </mc:Choice>
              <mc:Fallback>
                <p:oleObj name="Document" showAsIcon="1" r:id="rId2" imgW="914400" imgH="792685" progId="Word.Document.12">
                  <p:embed/>
                  <p:pic>
                    <p:nvPicPr>
                      <p:cNvPr id="0" name=""/>
                      <p:cNvPicPr/>
                      <p:nvPr/>
                    </p:nvPicPr>
                    <p:blipFill>
                      <a:blip r:embed="rId3"/>
                      <a:stretch>
                        <a:fillRect/>
                      </a:stretch>
                    </p:blipFill>
                    <p:spPr>
                      <a:xfrm>
                        <a:off x="7788315" y="1700084"/>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844410042"/>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22A1-72DF-4BA9-759A-1E01E490D690}"/>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06A6299-C9E7-8B7A-AF08-5951222574FF}"/>
              </a:ext>
            </a:extLst>
          </p:cNvPr>
          <p:cNvSpPr>
            <a:spLocks noGrp="1"/>
          </p:cNvSpPr>
          <p:nvPr>
            <p:ph type="title"/>
          </p:nvPr>
        </p:nvSpPr>
        <p:spPr/>
        <p:txBody>
          <a:bodyPr/>
          <a:lstStyle/>
          <a:p>
            <a:r>
              <a:rPr lang="en-US" sz="3200" cap="none" dirty="0">
                <a:solidFill>
                  <a:schemeClr val="tx1"/>
                </a:solidFill>
              </a:rPr>
              <a:t>LLM performance assessment - Output</a:t>
            </a:r>
            <a:endParaRPr lang="en-US" sz="3200" cap="none" dirty="0"/>
          </a:p>
        </p:txBody>
      </p:sp>
      <p:sp>
        <p:nvSpPr>
          <p:cNvPr id="2" name="Título 4">
            <a:extLst>
              <a:ext uri="{FF2B5EF4-FFF2-40B4-BE49-F238E27FC236}">
                <a16:creationId xmlns:a16="http://schemas.microsoft.com/office/drawing/2014/main" id="{BA359174-B683-35BD-A45C-36EFB2E79B48}"/>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sp>
        <p:nvSpPr>
          <p:cNvPr id="3" name="Título 4">
            <a:extLst>
              <a:ext uri="{FF2B5EF4-FFF2-40B4-BE49-F238E27FC236}">
                <a16:creationId xmlns:a16="http://schemas.microsoft.com/office/drawing/2014/main" id="{0DC48C58-A5E3-2016-61CE-1F4FEACFB258}"/>
              </a:ext>
            </a:extLst>
          </p:cNvPr>
          <p:cNvSpPr txBox="1">
            <a:spLocks/>
          </p:cNvSpPr>
          <p:nvPr/>
        </p:nvSpPr>
        <p:spPr>
          <a:xfrm>
            <a:off x="414000" y="1718810"/>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Team Members’ Opinion about the A.I. output:</a:t>
            </a:r>
          </a:p>
          <a:p>
            <a:endParaRPr lang="en-US" sz="2000" kern="0" dirty="0">
              <a:solidFill>
                <a:schemeClr val="tx1"/>
              </a:solidFill>
            </a:endParaRPr>
          </a:p>
          <a:p>
            <a:pPr algn="just"/>
            <a:r>
              <a:rPr lang="en-US" sz="2000" b="0" kern="0" dirty="0">
                <a:solidFill>
                  <a:schemeClr val="tx1"/>
                </a:solidFill>
              </a:rPr>
              <a:t>We agree with the evaluation, since it reflects our strong teamwork, communication and consistency throughout the sprint. As the LLM said, we have room to improve in anticipating technical issues and optimizing task dependencies. Overall, we’re satisfied with our performance.</a:t>
            </a:r>
          </a:p>
        </p:txBody>
      </p:sp>
    </p:spTree>
    <p:extLst>
      <p:ext uri="{BB962C8B-B14F-4D97-AF65-F5344CB8AC3E}">
        <p14:creationId xmlns:p14="http://schemas.microsoft.com/office/powerpoint/2010/main" val="9141745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Retrospective                        </a:t>
            </a:r>
            <a:r>
              <a:rPr lang="en-US" sz="2800" b="0" cap="none" dirty="0">
                <a:solidFill>
                  <a:schemeClr val="tx1"/>
                </a:solidFill>
              </a:rPr>
              <a:t>Date: 26/10/2025</a:t>
            </a:r>
            <a:endParaRPr lang="en-US" sz="3200" b="0" cap="none" dirty="0">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250869" y="1763815"/>
            <a:ext cx="2970330" cy="44506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well?</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The group chemistry allowed every member to be at its best, which made the project development easier for everyone.</a:t>
            </a:r>
          </a:p>
          <a:p>
            <a:pPr marL="285750" indent="-285750">
              <a:buFont typeface="Arial" panose="020B0604020202020204" pitchFamily="34" charset="0"/>
              <a:buChar char="•"/>
            </a:pPr>
            <a:r>
              <a:rPr lang="en-US" sz="1400" dirty="0">
                <a:solidFill>
                  <a:schemeClr val="tx1"/>
                </a:solidFill>
              </a:rPr>
              <a:t>Every team member was willing to help anyone at any point during the sprint, making so almost no impediments happened during this sprint.</a:t>
            </a:r>
          </a:p>
        </p:txBody>
      </p:sp>
      <p:sp>
        <p:nvSpPr>
          <p:cNvPr id="7" name="Rectangle 6">
            <a:extLst>
              <a:ext uri="{FF2B5EF4-FFF2-40B4-BE49-F238E27FC236}">
                <a16:creationId xmlns:a16="http://schemas.microsoft.com/office/drawing/2014/main" id="{73B9FD58-6876-4E87-998E-ACA36985B86E}"/>
              </a:ext>
            </a:extLst>
          </p:cNvPr>
          <p:cNvSpPr/>
          <p:nvPr/>
        </p:nvSpPr>
        <p:spPr>
          <a:xfrm>
            <a:off x="3480763"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wrong?</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A misinterpretation of the assessment caused the team to have the necessity of remaking the entirety of the database.</a:t>
            </a:r>
          </a:p>
          <a:p>
            <a:pPr marL="285750" indent="-285750">
              <a:buFont typeface="Arial" panose="020B0604020202020204" pitchFamily="34" charset="0"/>
              <a:buChar char="•"/>
            </a:pPr>
            <a:r>
              <a:rPr lang="en-US" sz="1400" dirty="0">
                <a:solidFill>
                  <a:schemeClr val="tx1"/>
                </a:solidFill>
              </a:rPr>
              <a:t>Some software crashing issues caused some minor delay on the project development.</a:t>
            </a:r>
          </a:p>
        </p:txBody>
      </p:sp>
      <p:sp>
        <p:nvSpPr>
          <p:cNvPr id="8" name="Rectangle 7">
            <a:extLst>
              <a:ext uri="{FF2B5EF4-FFF2-40B4-BE49-F238E27FC236}">
                <a16:creationId xmlns:a16="http://schemas.microsoft.com/office/drawing/2014/main" id="{39B8E455-F8DD-4DEF-9E49-A26421870FC1}"/>
              </a:ext>
            </a:extLst>
          </p:cNvPr>
          <p:cNvSpPr/>
          <p:nvPr/>
        </p:nvSpPr>
        <p:spPr>
          <a:xfrm>
            <a:off x="6710657"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 learned?</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New ways to adapt at things that are out of our control, so we guarantee that everyone’s working.</a:t>
            </a:r>
          </a:p>
          <a:p>
            <a:pPr marL="285750" indent="-285750">
              <a:buFont typeface="Arial" panose="020B0604020202020204" pitchFamily="34" charset="0"/>
              <a:buChar char="•"/>
            </a:pPr>
            <a:r>
              <a:rPr lang="en-US" sz="1400" dirty="0">
                <a:solidFill>
                  <a:schemeClr val="tx1"/>
                </a:solidFill>
              </a:rPr>
              <a:t>We developed as a team, which makes so we go into Sprint 2 being more capable of adapting each of strengths and weaknesses of each team member, so we can get the best result possible.</a:t>
            </a:r>
          </a:p>
        </p:txBody>
      </p:sp>
    </p:spTree>
    <p:extLst>
      <p:ext uri="{BB962C8B-B14F-4D97-AF65-F5344CB8AC3E}">
        <p14:creationId xmlns:p14="http://schemas.microsoft.com/office/powerpoint/2010/main" val="325025488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0AF2-FD58-E72D-83EF-8D677D3A4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416E1C-4950-D71D-123A-F724531983DC}"/>
              </a:ext>
            </a:extLst>
          </p:cNvPr>
          <p:cNvSpPr/>
          <p:nvPr/>
        </p:nvSpPr>
        <p:spPr>
          <a:xfrm>
            <a:off x="317484" y="1718809"/>
            <a:ext cx="9226025" cy="454550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Action items: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endParaRPr lang="en-US" sz="1400" dirty="0">
              <a:solidFill>
                <a:schemeClr val="tx1"/>
              </a:solidFill>
            </a:endParaRPr>
          </a:p>
        </p:txBody>
      </p:sp>
      <p:sp>
        <p:nvSpPr>
          <p:cNvPr id="7" name="Título 4">
            <a:extLst>
              <a:ext uri="{FF2B5EF4-FFF2-40B4-BE49-F238E27FC236}">
                <a16:creationId xmlns:a16="http://schemas.microsoft.com/office/drawing/2014/main" id="{15D1BD0F-42E6-8626-2941-D327B367F339}"/>
              </a:ext>
            </a:extLst>
          </p:cNvPr>
          <p:cNvSpPr>
            <a:spLocks noGrp="1"/>
          </p:cNvSpPr>
          <p:nvPr>
            <p:ph type="title"/>
          </p:nvPr>
        </p:nvSpPr>
        <p:spPr>
          <a:xfrm>
            <a:off x="414000" y="1000108"/>
            <a:ext cx="9043200" cy="571503"/>
          </a:xfrm>
        </p:spPr>
        <p:txBody>
          <a:bodyPr/>
          <a:lstStyle/>
          <a:p>
            <a:r>
              <a:rPr lang="en-US" sz="3200" cap="none" dirty="0">
                <a:solidFill>
                  <a:schemeClr val="tx1"/>
                </a:solidFill>
              </a:rPr>
              <a:t>Sprint Retrospective                        </a:t>
            </a:r>
            <a:r>
              <a:rPr lang="en-US" sz="2800" b="0" cap="none" dirty="0">
                <a:solidFill>
                  <a:schemeClr val="tx1"/>
                </a:solidFill>
              </a:rPr>
              <a:t>Date: </a:t>
            </a:r>
            <a:r>
              <a:rPr lang="en-US" sz="3200" b="0" dirty="0">
                <a:solidFill>
                  <a:schemeClr val="tx1"/>
                </a:solidFill>
              </a:rPr>
              <a:t>26/10/2025</a:t>
            </a:r>
            <a:endParaRPr lang="en-US" sz="3200" b="0" cap="none" dirty="0">
              <a:solidFill>
                <a:schemeClr val="tx1"/>
              </a:solidFill>
            </a:endParaRPr>
          </a:p>
        </p:txBody>
      </p:sp>
    </p:spTree>
    <p:extLst>
      <p:ext uri="{BB962C8B-B14F-4D97-AF65-F5344CB8AC3E}">
        <p14:creationId xmlns:p14="http://schemas.microsoft.com/office/powerpoint/2010/main" val="3789479183"/>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Overall Project performance:</a:t>
            </a:r>
          </a:p>
        </p:txBody>
      </p:sp>
      <p:sp>
        <p:nvSpPr>
          <p:cNvPr id="2" name="Marcador de Posição do Texto 1">
            <a:extLst>
              <a:ext uri="{FF2B5EF4-FFF2-40B4-BE49-F238E27FC236}">
                <a16:creationId xmlns:a16="http://schemas.microsoft.com/office/drawing/2014/main" id="{EEE97808-B786-5C10-6A83-416F88B5C6D2}"/>
              </a:ext>
            </a:extLst>
          </p:cNvPr>
          <p:cNvSpPr>
            <a:spLocks noGrp="1"/>
          </p:cNvSpPr>
          <p:nvPr>
            <p:ph type="body" idx="1"/>
          </p:nvPr>
        </p:nvSpPr>
        <p:spPr/>
        <p:txBody>
          <a:bodyPr/>
          <a:lstStyle/>
          <a:p>
            <a:r>
              <a:rPr lang="en-US" dirty="0">
                <a:solidFill>
                  <a:schemeClr val="tx1"/>
                </a:solidFill>
              </a:rPr>
              <a:t>Comments</a:t>
            </a:r>
            <a:r>
              <a:rPr lang="pt-PT" dirty="0">
                <a:solidFill>
                  <a:schemeClr val="tx1"/>
                </a:solidFill>
              </a:rPr>
              <a:t>: </a:t>
            </a:r>
            <a:r>
              <a:rPr lang="pt-PT" dirty="0" err="1">
                <a:solidFill>
                  <a:schemeClr val="tx1"/>
                </a:solidFill>
              </a:rPr>
              <a:t>None</a:t>
            </a:r>
            <a:r>
              <a:rPr lang="pt-PT" dirty="0">
                <a:solidFill>
                  <a:schemeClr val="tx1"/>
                </a:solidFill>
              </a:rPr>
              <a:t>.</a:t>
            </a:r>
          </a:p>
          <a:p>
            <a:endParaRPr lang="pt-PT" dirty="0">
              <a:solidFill>
                <a:schemeClr val="tx1"/>
              </a:solidFill>
            </a:endParaRPr>
          </a:p>
          <a:p>
            <a:r>
              <a:rPr lang="en-US" dirty="0">
                <a:solidFill>
                  <a:schemeClr val="tx1"/>
                </a:solidFill>
              </a:rPr>
              <a:t>LLM evaluation</a:t>
            </a:r>
            <a:r>
              <a:rPr lang="pt-PT" dirty="0">
                <a:solidFill>
                  <a:schemeClr val="tx1"/>
                </a:solidFill>
              </a:rPr>
              <a:t>: 4</a:t>
            </a:r>
          </a:p>
          <a:p>
            <a:endParaRPr lang="pt-PT" dirty="0">
              <a:solidFill>
                <a:schemeClr val="tx1"/>
              </a:solidFill>
            </a:endParaRPr>
          </a:p>
          <a:p>
            <a:r>
              <a:rPr lang="pt-PT" dirty="0" err="1">
                <a:solidFill>
                  <a:schemeClr val="tx1"/>
                </a:solidFill>
              </a:rPr>
              <a:t>How</a:t>
            </a:r>
            <a:r>
              <a:rPr lang="pt-PT" dirty="0">
                <a:solidFill>
                  <a:schemeClr val="tx1"/>
                </a:solidFill>
              </a:rPr>
              <a:t> do </a:t>
            </a:r>
            <a:r>
              <a:rPr lang="pt-PT" dirty="0" err="1">
                <a:solidFill>
                  <a:schemeClr val="tx1"/>
                </a:solidFill>
              </a:rPr>
              <a:t>you</a:t>
            </a:r>
            <a:r>
              <a:rPr lang="pt-PT" dirty="0">
                <a:solidFill>
                  <a:schemeClr val="tx1"/>
                </a:solidFill>
              </a:rPr>
              <a:t> grade </a:t>
            </a:r>
            <a:r>
              <a:rPr lang="pt-PT" dirty="0" err="1">
                <a:solidFill>
                  <a:schemeClr val="tx1"/>
                </a:solidFill>
              </a:rPr>
              <a:t>your</a:t>
            </a:r>
            <a:r>
              <a:rPr lang="pt-PT" dirty="0">
                <a:solidFill>
                  <a:schemeClr val="tx1"/>
                </a:solidFill>
              </a:rPr>
              <a:t> performance (0-5): 5</a:t>
            </a:r>
          </a:p>
          <a:p>
            <a:r>
              <a:rPr lang="pt-PT" dirty="0" err="1">
                <a:solidFill>
                  <a:schemeClr val="tx1"/>
                </a:solidFill>
              </a:rPr>
              <a:t>How</a:t>
            </a:r>
            <a:r>
              <a:rPr lang="pt-PT" dirty="0">
                <a:solidFill>
                  <a:schemeClr val="tx1"/>
                </a:solidFill>
              </a:rPr>
              <a:t> do </a:t>
            </a:r>
            <a:r>
              <a:rPr lang="pt-PT" dirty="0" err="1">
                <a:solidFill>
                  <a:schemeClr val="tx1"/>
                </a:solidFill>
              </a:rPr>
              <a:t>you</a:t>
            </a:r>
            <a:r>
              <a:rPr lang="pt-PT" dirty="0">
                <a:solidFill>
                  <a:schemeClr val="tx1"/>
                </a:solidFill>
              </a:rPr>
              <a:t> grade </a:t>
            </a:r>
            <a:r>
              <a:rPr lang="pt-PT" dirty="0" err="1">
                <a:solidFill>
                  <a:schemeClr val="tx1"/>
                </a:solidFill>
              </a:rPr>
              <a:t>your</a:t>
            </a:r>
            <a:r>
              <a:rPr lang="pt-PT" dirty="0">
                <a:solidFill>
                  <a:schemeClr val="tx1"/>
                </a:solidFill>
              </a:rPr>
              <a:t> </a:t>
            </a:r>
            <a:r>
              <a:rPr lang="pt-PT" dirty="0" err="1">
                <a:solidFill>
                  <a:schemeClr val="tx1"/>
                </a:solidFill>
              </a:rPr>
              <a:t>results</a:t>
            </a:r>
            <a:r>
              <a:rPr lang="pt-PT" dirty="0">
                <a:solidFill>
                  <a:schemeClr val="tx1"/>
                </a:solidFill>
              </a:rPr>
              <a:t> (0-5</a:t>
            </a:r>
            <a:r>
              <a:rPr lang="pt-PT">
                <a:solidFill>
                  <a:schemeClr val="tx1"/>
                </a:solidFill>
              </a:rPr>
              <a:t>): 4</a:t>
            </a:r>
            <a:endParaRPr lang="pt-PT" dirty="0">
              <a:solidFill>
                <a:schemeClr val="tx1"/>
              </a:solidFill>
            </a:endParaRPr>
          </a:p>
        </p:txBody>
      </p:sp>
      <p:pic>
        <p:nvPicPr>
          <p:cNvPr id="7" name="Imagem 6">
            <a:extLst>
              <a:ext uri="{FF2B5EF4-FFF2-40B4-BE49-F238E27FC236}">
                <a16:creationId xmlns:a16="http://schemas.microsoft.com/office/drawing/2014/main" id="{6417797C-1297-547E-D29B-35BF35D93259}"/>
              </a:ext>
            </a:extLst>
          </p:cNvPr>
          <p:cNvPicPr>
            <a:picLocks noChangeAspect="1"/>
          </p:cNvPicPr>
          <p:nvPr/>
        </p:nvPicPr>
        <p:blipFill>
          <a:blip r:embed="rId2"/>
          <a:stretch>
            <a:fillRect/>
          </a:stretch>
        </p:blipFill>
        <p:spPr>
          <a:xfrm>
            <a:off x="2477725" y="4487949"/>
            <a:ext cx="4500500" cy="1833984"/>
          </a:xfrm>
          <a:prstGeom prst="rect">
            <a:avLst/>
          </a:prstGeom>
        </p:spPr>
      </p:pic>
    </p:spTree>
    <p:extLst>
      <p:ext uri="{BB962C8B-B14F-4D97-AF65-F5344CB8AC3E}">
        <p14:creationId xmlns:p14="http://schemas.microsoft.com/office/powerpoint/2010/main" val="81955380"/>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04904d-c619-4467-a32f-09812827fd8e">
      <Terms xmlns="http://schemas.microsoft.com/office/infopath/2007/PartnerControls"/>
    </lcf76f155ced4ddcb4097134ff3c332f>
    <TaxCatchAll xmlns="b4fdeaeb-cd21-48a0-91d3-a71b662e0a0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A52B1E44048D8469E872E4EAE2C3404" ma:contentTypeVersion="11" ma:contentTypeDescription="Create a new document." ma:contentTypeScope="" ma:versionID="18c252975d92f01196e9d85a00ffa512">
  <xsd:schema xmlns:xsd="http://www.w3.org/2001/XMLSchema" xmlns:xs="http://www.w3.org/2001/XMLSchema" xmlns:p="http://schemas.microsoft.com/office/2006/metadata/properties" xmlns:ns2="ed04904d-c619-4467-a32f-09812827fd8e" xmlns:ns3="b4fdeaeb-cd21-48a0-91d3-a71b662e0a05" targetNamespace="http://schemas.microsoft.com/office/2006/metadata/properties" ma:root="true" ma:fieldsID="f718ae11af6cc9f6b424d07c4f0a834d" ns2:_="" ns3:_="">
    <xsd:import namespace="ed04904d-c619-4467-a32f-09812827fd8e"/>
    <xsd:import namespace="b4fdeaeb-cd21-48a0-91d3-a71b662e0a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04904d-c619-4467-a32f-09812827fd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d39c20-4416-4a86-a41d-df69d8f2de9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fdeaeb-cd21-48a0-91d3-a71b662e0a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15ae7b-29a8-45ec-b859-842c81a716b0}" ma:internalName="TaxCatchAll" ma:showField="CatchAllData" ma:web="b4fdeaeb-cd21-48a0-91d3-a71b662e0a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984168-AABC-4753-B4EC-59CA9D08839F}">
  <ds:schemaRefs>
    <ds:schemaRef ds:uri="http://schemas.microsoft.com/sharepoint/v3/contenttype/forms"/>
  </ds:schemaRefs>
</ds:datastoreItem>
</file>

<file path=customXml/itemProps2.xml><?xml version="1.0" encoding="utf-8"?>
<ds:datastoreItem xmlns:ds="http://schemas.openxmlformats.org/officeDocument/2006/customXml" ds:itemID="{E9B87164-EF5F-43C8-917E-48B38ACAFD1E}">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a1e3ca88-8ae5-4fd0-ba37-40ce669fcbb0"/>
    <ds:schemaRef ds:uri="http://www.w3.org/XML/1998/namespace"/>
    <ds:schemaRef ds:uri="ed04904d-c619-4467-a32f-09812827fd8e"/>
    <ds:schemaRef ds:uri="b4fdeaeb-cd21-48a0-91d3-a71b662e0a05"/>
  </ds:schemaRefs>
</ds:datastoreItem>
</file>

<file path=customXml/itemProps3.xml><?xml version="1.0" encoding="utf-8"?>
<ds:datastoreItem xmlns:ds="http://schemas.openxmlformats.org/officeDocument/2006/customXml" ds:itemID="{39A15032-0E44-4145-B204-E342EE6C36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04904d-c619-4467-a32f-09812827fd8e"/>
    <ds:schemaRef ds:uri="b4fdeaeb-cd21-48a0-91d3-a71b662e0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5364</TotalTime>
  <Words>940</Words>
  <Application>Microsoft Office PowerPoint</Application>
  <PresentationFormat>Papel A4 (210x297 mm)</PresentationFormat>
  <Paragraphs>250</Paragraphs>
  <Slides>15</Slides>
  <Notes>0</Notes>
  <HiddenSlides>0</HiddenSlides>
  <MMClips>0</MMClips>
  <ScaleCrop>false</ScaleCrop>
  <HeadingPairs>
    <vt:vector size="8" baseType="variant">
      <vt:variant>
        <vt:lpstr>Tipos de letra usados</vt:lpstr>
      </vt:variant>
      <vt:variant>
        <vt:i4>3</vt:i4>
      </vt:variant>
      <vt:variant>
        <vt:lpstr>Tema</vt:lpstr>
      </vt:variant>
      <vt:variant>
        <vt:i4>1</vt:i4>
      </vt:variant>
      <vt:variant>
        <vt:lpstr>Servidores OLE incorporados</vt:lpstr>
      </vt:variant>
      <vt:variant>
        <vt:i4>1</vt:i4>
      </vt:variant>
      <vt:variant>
        <vt:lpstr>Títulos dos diapositivos</vt:lpstr>
      </vt:variant>
      <vt:variant>
        <vt:i4>15</vt:i4>
      </vt:variant>
    </vt:vector>
  </HeadingPairs>
  <TitlesOfParts>
    <vt:vector size="20" baseType="lpstr">
      <vt:lpstr>Arial</vt:lpstr>
      <vt:lpstr>Calibri</vt:lpstr>
      <vt:lpstr>Kozuka Gothic Pro M</vt:lpstr>
      <vt:lpstr>1_ISEP</vt:lpstr>
      <vt:lpstr>Documento do Microsoft Word</vt:lpstr>
      <vt:lpstr>[Logistics On Rails] - SPRINT 1  G091</vt:lpstr>
      <vt:lpstr>Sprint planning – Sprint 1</vt:lpstr>
      <vt:lpstr>Sprint 1 planning</vt:lpstr>
      <vt:lpstr>Sprint 1 planning</vt:lpstr>
      <vt:lpstr>Work assigned by team member</vt:lpstr>
      <vt:lpstr> Work assigned by type (componente)</vt:lpstr>
      <vt:lpstr>Issues / Assumptions / unanswered questions</vt:lpstr>
      <vt:lpstr>Daily Meetings</vt:lpstr>
      <vt:lpstr>LLM performance assessment (use ChatGPT or Copilot)</vt:lpstr>
      <vt:lpstr>LLM performance assessment - Output</vt:lpstr>
      <vt:lpstr>LLM performance assessment - Output</vt:lpstr>
      <vt:lpstr>Sprint Retrospective                        Date: 26/10/2025</vt:lpstr>
      <vt:lpstr>Sprint Retrospective                        Date: 26/10/2025</vt:lpstr>
      <vt:lpstr>Overall Project performance: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João Manuel Marques Ferreira</cp:lastModifiedBy>
  <cp:revision>503</cp:revision>
  <dcterms:created xsi:type="dcterms:W3CDTF">2010-10-20T15:48:12Z</dcterms:created>
  <dcterms:modified xsi:type="dcterms:W3CDTF">2025-10-26T16:20:30Z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0x010100BA52B1E44048D8469E872E4EAE2C3404</vt:lpwstr>
  </property>
  <property fmtid="{D5CDD505-2E9C-101B-9397-08002B2CF9AE}" pid="3" name="MediaServiceImageTags">
    <vt:lpwstr/>
  </property>
</Properties>
</file>